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anose="000005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c0TpBMA2RPzPlTNGrq6P8Q1M9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e299c690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6" name="Google Shape;96;g3fae299c690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fae299c690_8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30" name="Google Shape;2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://ethers.js/NestJS" TargetMode="External"/><Relationship Id="rId10" Type="http://schemas.openxmlformats.org/officeDocument/2006/relationships/image" Target="../media/image9.png"/><Relationship Id="rId4" Type="http://schemas.openxmlformats.org/officeDocument/2006/relationships/hyperlink" Target="http://node.js" TargetMode="Externa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hyperlink" Target="https://www.indiacode.nic.in/bitstream/123456789/22037/1/a2023-22.pdf" TargetMode="External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yperledger-fabric.readthedocs.io/" TargetMode="External"/><Relationship Id="rId11" Type="http://schemas.openxmlformats.org/officeDocument/2006/relationships/image" Target="../media/image36.png"/><Relationship Id="rId5" Type="http://schemas.openxmlformats.org/officeDocument/2006/relationships/hyperlink" Target="https://docs.openzeppelin.com/contracts/" TargetMode="External"/><Relationship Id="rId10" Type="http://schemas.openxmlformats.org/officeDocument/2006/relationships/image" Target="../media/image35.png"/><Relationship Id="rId4" Type="http://schemas.openxmlformats.org/officeDocument/2006/relationships/hyperlink" Target="https://www.w3.org/TR/did-1.1/" TargetMode="External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08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819426" y="-526725"/>
            <a:ext cx="93438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40500" y="1432375"/>
            <a:ext cx="6421800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–261</a:t>
            </a:r>
            <a:r>
              <a:rPr lang="en-US" sz="2000" b="1" dirty="0">
                <a:solidFill>
                  <a:schemeClr val="dk1"/>
                </a:solidFill>
              </a:rPr>
              <a:t>25</a:t>
            </a:r>
            <a:endParaRPr sz="2000" dirty="0"/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- Blo</a:t>
            </a:r>
            <a:r>
              <a:rPr lang="en-US" sz="2000" b="1" dirty="0">
                <a:solidFill>
                  <a:schemeClr val="dk1"/>
                </a:solidFill>
              </a:rPr>
              <a:t>ckchain-Based Secure Platform for Identity, Access Control,  and Digital Asset Management</a:t>
            </a:r>
            <a:endParaRPr sz="2000" dirty="0"/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- Blockchain &amp; Cybersecurity</a:t>
            </a:r>
            <a:endParaRPr sz="2000" dirty="0"/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- Software</a:t>
            </a:r>
            <a:endParaRPr sz="2000" dirty="0"/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– GLAS51</a:t>
            </a:r>
            <a:endParaRPr sz="2000" dirty="0"/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-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TrustMesh</a:t>
            </a:r>
            <a:endParaRPr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 title="Gemini_Generated_Image_mhaqc1mhaqc1mhaq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4150" y="221288"/>
            <a:ext cx="2212847" cy="1124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e299c690_8_0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ae299c690_8_0"/>
          <p:cNvSpPr txBox="1">
            <a:spLocks noGrp="1"/>
          </p:cNvSpPr>
          <p:nvPr>
            <p:ph type="title"/>
          </p:nvPr>
        </p:nvSpPr>
        <p:spPr>
          <a:xfrm>
            <a:off x="1869400" y="356775"/>
            <a:ext cx="76842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500" b="1" u="sng" dirty="0" err="1">
                <a:solidFill>
                  <a:srgbClr val="CC412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TrustMesh</a:t>
            </a:r>
            <a:r>
              <a:rPr lang="en-US" sz="2500" b="1" u="sng" dirty="0">
                <a:solidFill>
                  <a:srgbClr val="CC412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</a:t>
            </a:r>
            <a:r>
              <a:rPr lang="en-US" sz="2400" dirty="0">
                <a:highlight>
                  <a:schemeClr val="lt1"/>
                </a:highlight>
                <a:latin typeface="+mn-lt"/>
                <a:ea typeface="MS Mincho" panose="02020609040205080304" pitchFamily="49" charset="-128"/>
              </a:rPr>
              <a:t> A Blockchain-Based Trust Layer for Identity, Access Control &amp; Digital Assets</a:t>
            </a:r>
            <a:br>
              <a:rPr lang="en-US" sz="2500" b="1" u="sng" dirty="0">
                <a:solidFill>
                  <a:srgbClr val="CC4125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300" u="sng" dirty="0">
              <a:solidFill>
                <a:srgbClr val="CC4125"/>
              </a:solidFill>
              <a:highlight>
                <a:schemeClr val="lt1"/>
              </a:highlight>
            </a:endParaRPr>
          </a:p>
        </p:txBody>
      </p:sp>
      <p:sp>
        <p:nvSpPr>
          <p:cNvPr id="101" name="Google Shape;101;g3fae299c690_8_0"/>
          <p:cNvSpPr txBox="1"/>
          <p:nvPr/>
        </p:nvSpPr>
        <p:spPr>
          <a:xfrm>
            <a:off x="443900" y="1113350"/>
            <a:ext cx="2844900" cy="35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36550" algn="l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700"/>
              <a:buChar char="❖"/>
            </a:pPr>
            <a:r>
              <a:rPr lang="en-US" sz="1700" b="1" u="sng">
                <a:solidFill>
                  <a:srgbClr val="4A86E8"/>
                </a:solidFill>
              </a:rPr>
              <a:t>The </a:t>
            </a:r>
            <a:r>
              <a:rPr lang="en-US" sz="1700" b="1" u="sng">
                <a:solidFill>
                  <a:srgbClr val="4A86E8"/>
                </a:solidFill>
                <a:highlight>
                  <a:schemeClr val="lt1"/>
                </a:highlight>
              </a:rPr>
              <a:t>Problem</a:t>
            </a:r>
            <a:endParaRPr sz="100">
              <a:solidFill>
                <a:srgbClr val="4A86E8"/>
              </a:solidFill>
              <a:highlight>
                <a:schemeClr val="lt1"/>
              </a:highlight>
            </a:endParaRPr>
          </a:p>
        </p:txBody>
      </p:sp>
      <p:sp>
        <p:nvSpPr>
          <p:cNvPr id="102" name="Google Shape;102;g3fae299c690_8_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g3fae299c690_8_0" descr="Your startup LOGO"/>
          <p:cNvSpPr/>
          <p:nvPr/>
        </p:nvSpPr>
        <p:spPr>
          <a:xfrm>
            <a:off x="202200" y="252250"/>
            <a:ext cx="17295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TrustMesh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ae299c690_8_0"/>
          <p:cNvSpPr txBox="1"/>
          <p:nvPr/>
        </p:nvSpPr>
        <p:spPr>
          <a:xfrm>
            <a:off x="3986425" y="1074775"/>
            <a:ext cx="3078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Char char="❖"/>
            </a:pPr>
            <a:r>
              <a:rPr lang="en-US" sz="1700" b="1" u="sng">
                <a:solidFill>
                  <a:srgbClr val="FF9900"/>
                </a:solidFill>
              </a:rPr>
              <a:t>The Proposed Solution</a:t>
            </a:r>
            <a:endParaRPr sz="1700" b="1" u="sng">
              <a:solidFill>
                <a:srgbClr val="FF9900"/>
              </a:solidFill>
            </a:endParaRPr>
          </a:p>
        </p:txBody>
      </p:sp>
      <p:sp>
        <p:nvSpPr>
          <p:cNvPr id="105" name="Google Shape;105;g3fae299c690_8_0"/>
          <p:cNvSpPr txBox="1"/>
          <p:nvPr/>
        </p:nvSpPr>
        <p:spPr>
          <a:xfrm>
            <a:off x="8118550" y="1115413"/>
            <a:ext cx="408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700"/>
              <a:buChar char="❖"/>
            </a:pPr>
            <a:r>
              <a:rPr lang="en-US" sz="1700" b="1" u="sng" dirty="0">
                <a:solidFill>
                  <a:srgbClr val="93C47D"/>
                </a:solidFill>
              </a:rPr>
              <a:t>Impact and Innovation</a:t>
            </a:r>
            <a:endParaRPr sz="1700" b="1" u="sng" dirty="0">
              <a:solidFill>
                <a:srgbClr val="93C47D"/>
              </a:solidFill>
            </a:endParaRPr>
          </a:p>
        </p:txBody>
      </p:sp>
      <p:sp>
        <p:nvSpPr>
          <p:cNvPr id="106" name="Google Shape;106;g3fae299c690_8_0"/>
          <p:cNvSpPr/>
          <p:nvPr/>
        </p:nvSpPr>
        <p:spPr>
          <a:xfrm>
            <a:off x="88300" y="1467350"/>
            <a:ext cx="3444900" cy="2779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Oswald"/>
              <a:buChar char="●"/>
            </a:pPr>
            <a:r>
              <a:rPr lang="en-US" sz="1300" dirty="0">
                <a:latin typeface="Oswald"/>
                <a:ea typeface="Oswald"/>
                <a:cs typeface="Oswald"/>
                <a:sym typeface="Oswald"/>
              </a:rPr>
              <a:t>Centralized identity systems create security risks and single points of failure.</a:t>
            </a:r>
            <a:endParaRPr sz="13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Oswald"/>
              <a:buChar char="●"/>
            </a:pPr>
            <a:r>
              <a:rPr lang="en-US" sz="1300" dirty="0">
                <a:latin typeface="Oswald"/>
                <a:ea typeface="Oswald"/>
                <a:cs typeface="Oswald"/>
                <a:sym typeface="Oswald"/>
              </a:rPr>
              <a:t>Identity theft &amp; unauthorized access are difficult to prevent and verify.</a:t>
            </a:r>
            <a:endParaRPr sz="13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-311150">
              <a:buSzPts val="1300"/>
              <a:buFont typeface="Oswald"/>
              <a:buChar char="●"/>
            </a:pPr>
            <a:r>
              <a:rPr lang="en-US" sz="1200" dirty="0"/>
              <a:t>Digital assets and access rights are fragmented across disconnected systems.</a:t>
            </a:r>
          </a:p>
          <a:p>
            <a:pPr marL="457200" lvl="0" indent="-311150">
              <a:buSzPts val="1300"/>
              <a:buFont typeface="Oswald"/>
              <a:buChar char="●"/>
            </a:pPr>
            <a:r>
              <a:rPr lang="en-US" sz="1300" dirty="0">
                <a:latin typeface="Oswald"/>
                <a:ea typeface="Oswald"/>
                <a:cs typeface="Oswald"/>
                <a:sym typeface="Oswald"/>
              </a:rPr>
              <a:t>Ownership, access rights &amp; authenticity are difficult to track and vulnerable to tampering.</a:t>
            </a:r>
            <a:endParaRPr sz="13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7" name="Google Shape;107;g3fae299c690_8_0"/>
          <p:cNvSpPr/>
          <p:nvPr/>
        </p:nvSpPr>
        <p:spPr>
          <a:xfrm>
            <a:off x="3597975" y="1521175"/>
            <a:ext cx="4142700" cy="2614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200"/>
              <a:buChar char="●"/>
            </a:pPr>
            <a:r>
              <a:rPr lang="en-US" sz="1200" dirty="0"/>
              <a:t>A reusable Trust Layer connects applications to blockchain-backed identity, policy enforcement, asset ownership and audit evidence.</a:t>
            </a:r>
            <a:r>
              <a:rPr lang="en-US" sz="12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endParaRPr sz="12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dirty="0"/>
              <a:t>DID-based identity provides a cryptographically verifiable identity layer for participating applications.</a:t>
            </a:r>
          </a:p>
          <a:p>
            <a:pPr marL="457200" lvl="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dirty="0"/>
              <a:t>NFT-based digital assets provide verifiable ownership and controlled transfers through smart contracts.</a:t>
            </a:r>
          </a:p>
          <a:p>
            <a:pPr marL="457200" lvl="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dirty="0" err="1"/>
              <a:t>PolicyEngine</a:t>
            </a:r>
            <a:r>
              <a:rPr lang="en-US" sz="1200" dirty="0"/>
              <a:t> enforces access decisions on-chain, while </a:t>
            </a:r>
            <a:r>
              <a:rPr lang="en-US" sz="1200" dirty="0" err="1"/>
              <a:t>AuditLogger</a:t>
            </a:r>
            <a:r>
              <a:rPr lang="en-US" sz="1200" dirty="0"/>
              <a:t> records trust-relevant actions as verifiable evidence.</a:t>
            </a:r>
            <a:r>
              <a:rPr lang="en-US" sz="12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endParaRPr sz="12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8" name="Google Shape;108;g3fae299c690_8_0"/>
          <p:cNvSpPr/>
          <p:nvPr/>
        </p:nvSpPr>
        <p:spPr>
          <a:xfrm>
            <a:off x="7898800" y="1667575"/>
            <a:ext cx="4013400" cy="447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endParaRPr lang="en-US" dirty="0"/>
          </a:p>
          <a:p>
            <a:pPr lvl="0" algn="ctr">
              <a:buClr>
                <a:schemeClr val="dk1"/>
              </a:buClr>
              <a:buSzPts val="1100"/>
            </a:pPr>
            <a:r>
              <a:rPr lang="en-US" dirty="0"/>
              <a:t>Reduces dependence on application-specific authorization by introducing a common trust layer.</a:t>
            </a:r>
          </a:p>
          <a:p>
            <a:pPr lvl="0" algn="ctr">
              <a:buClr>
                <a:schemeClr val="dk1"/>
              </a:buClr>
              <a:buSzPts val="1100"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-317500">
              <a:buSzPts val="1400"/>
              <a:buFont typeface="Oswald"/>
              <a:buChar char="●"/>
            </a:pPr>
            <a:r>
              <a:rPr lang="en-US" dirty="0"/>
              <a:t>Blockchain-backed asset records make ownership and authorized transfers verifiable.</a:t>
            </a:r>
          </a:p>
          <a:p>
            <a:pPr marL="457200" lvl="0" indent="-317500">
              <a:buSzPts val="1400"/>
              <a:buFont typeface="Oswald"/>
              <a:buChar char="●"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Smart-contract enforcement prevents unauthorized access and permission bypass.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Generalized Policy Engine supports NFTs, documents, APIs and physical access without redeployment.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Multi-tenant architecture allows multiple organizations to securely share the same platform.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Guardian-based social recovery enables secure credential recovery with time-lock protection.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9" name="Google Shape;109;g3fae299c690_8_0" title="Gemini_Generated_Image_mhaqc1mhaqc1mha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4650" y="95149"/>
            <a:ext cx="2044972" cy="103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fae299c690_8_0" title="ssi-ven-diagramme-1024x98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6425" y="4246850"/>
            <a:ext cx="3643251" cy="203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fae299c690_8_0" title="ChatGPT Image Aug 27, 2026, 09_04_54 AM.png"/>
          <p:cNvPicPr preferRelativeResize="0"/>
          <p:nvPr/>
        </p:nvPicPr>
        <p:blipFill rotWithShape="1">
          <a:blip r:embed="rId5">
            <a:alphaModFix/>
          </a:blip>
          <a:srcRect l="209" r="199"/>
          <a:stretch/>
        </p:blipFill>
        <p:spPr>
          <a:xfrm>
            <a:off x="88300" y="4302276"/>
            <a:ext cx="3796673" cy="20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3" descr="Your startup LOGO"/>
          <p:cNvSpPr/>
          <p:nvPr/>
        </p:nvSpPr>
        <p:spPr>
          <a:xfrm>
            <a:off x="329775" y="252250"/>
            <a:ext cx="17682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TrustMesh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3" title="plss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475" y="985100"/>
            <a:ext cx="7353876" cy="7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3110025" y="1813675"/>
            <a:ext cx="1211700" cy="1317900"/>
          </a:xfrm>
          <a:prstGeom prst="rect">
            <a:avLst/>
          </a:prstGeom>
          <a:solidFill>
            <a:srgbClr val="DAE5F1"/>
          </a:solidFill>
          <a:ln w="9525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User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Registration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DID generated client-side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(keys never leave device</a:t>
            </a:r>
            <a:endParaRPr sz="1200"/>
          </a:p>
        </p:txBody>
      </p:sp>
      <p:sp>
        <p:nvSpPr>
          <p:cNvPr id="123" name="Google Shape;123;p3"/>
          <p:cNvSpPr/>
          <p:nvPr/>
        </p:nvSpPr>
        <p:spPr>
          <a:xfrm>
            <a:off x="4402725" y="1798838"/>
            <a:ext cx="996600" cy="1695900"/>
          </a:xfrm>
          <a:prstGeom prst="rect">
            <a:avLst/>
          </a:prstGeom>
          <a:solidFill>
            <a:srgbClr val="DAE5F1"/>
          </a:solidFill>
          <a:ln w="9525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DID Document pinned to IPFS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hash stored in DIDRegistry.sol</a:t>
            </a:r>
            <a:endParaRPr sz="1200"/>
          </a:p>
        </p:txBody>
      </p:sp>
      <p:sp>
        <p:nvSpPr>
          <p:cNvPr id="124" name="Google Shape;124;p3"/>
          <p:cNvSpPr/>
          <p:nvPr/>
        </p:nvSpPr>
        <p:spPr>
          <a:xfrm>
            <a:off x="5426500" y="1789923"/>
            <a:ext cx="1258200" cy="1603800"/>
          </a:xfrm>
          <a:prstGeom prst="rect">
            <a:avLst/>
          </a:prstGeom>
          <a:solidFill>
            <a:srgbClr val="DAE5F1"/>
          </a:solidFill>
          <a:ln w="9525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Admin defines Roles &amp; Resources via no-code UI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written to PolicyEngine.sol</a:t>
            </a:r>
            <a:endParaRPr sz="1200"/>
          </a:p>
        </p:txBody>
      </p:sp>
      <p:sp>
        <p:nvSpPr>
          <p:cNvPr id="125" name="Google Shape;125;p3"/>
          <p:cNvSpPr/>
          <p:nvPr/>
        </p:nvSpPr>
        <p:spPr>
          <a:xfrm>
            <a:off x="6742300" y="1835050"/>
            <a:ext cx="1258200" cy="1603800"/>
          </a:xfrm>
          <a:prstGeom prst="rect">
            <a:avLst/>
          </a:prstGeom>
          <a:solidFill>
            <a:srgbClr val="DAE5F1"/>
          </a:solidFill>
          <a:ln w="9525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Admin mints NFT/grants resource access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checkAccess()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validates RBAC on-chain</a:t>
            </a:r>
            <a:endParaRPr sz="1200"/>
          </a:p>
        </p:txBody>
      </p:sp>
      <p:sp>
        <p:nvSpPr>
          <p:cNvPr id="126" name="Google Shape;126;p3"/>
          <p:cNvSpPr/>
          <p:nvPr/>
        </p:nvSpPr>
        <p:spPr>
          <a:xfrm>
            <a:off x="8066150" y="1827875"/>
            <a:ext cx="1211700" cy="1695900"/>
          </a:xfrm>
          <a:prstGeom prst="rect">
            <a:avLst/>
          </a:prstGeom>
          <a:solidFill>
            <a:srgbClr val="DAE5F1"/>
          </a:solidFill>
          <a:ln w="9525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Every action emits an event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indexed off-chain shown in Auditor dashbaord</a:t>
            </a:r>
            <a:endParaRPr sz="1200"/>
          </a:p>
        </p:txBody>
      </p:sp>
      <p:sp>
        <p:nvSpPr>
          <p:cNvPr id="127" name="Google Shape;127;p3"/>
          <p:cNvSpPr/>
          <p:nvPr/>
        </p:nvSpPr>
        <p:spPr>
          <a:xfrm>
            <a:off x="9343500" y="1859963"/>
            <a:ext cx="1130400" cy="1603800"/>
          </a:xfrm>
          <a:prstGeom prst="rect">
            <a:avLst/>
          </a:prstGeom>
          <a:solidFill>
            <a:srgbClr val="DAE5F1"/>
          </a:solidFill>
          <a:ln w="9525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If key lost-&gt;Guardian -based recovery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(M-of-N signatures+48-72hr timeclock)</a:t>
            </a:r>
            <a:endParaRPr sz="1200"/>
          </a:p>
        </p:txBody>
      </p:sp>
      <p:sp>
        <p:nvSpPr>
          <p:cNvPr id="128" name="Google Shape;128;p3"/>
          <p:cNvSpPr txBox="1"/>
          <p:nvPr/>
        </p:nvSpPr>
        <p:spPr>
          <a:xfrm>
            <a:off x="-41475" y="1022847"/>
            <a:ext cx="23301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swald"/>
              <a:buChar char="❖"/>
            </a:pPr>
            <a:r>
              <a:rPr lang="en-US" sz="17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Technologies Used</a:t>
            </a:r>
            <a:endParaRPr sz="17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2225" y="1456825"/>
            <a:ext cx="3693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A7DBA"/>
                </a:solidFill>
              </a:rPr>
              <a:t>SMART CONTRACTS</a:t>
            </a:r>
            <a:endParaRPr b="1">
              <a:solidFill>
                <a:srgbClr val="4A7DB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Solidity+OpenZepplein AccessControl,ERC-721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62225" y="2204275"/>
            <a:ext cx="37875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A7DBA"/>
                </a:solidFill>
              </a:rPr>
              <a:t>BLOCK CHAIN</a:t>
            </a:r>
            <a:endParaRPr b="1">
              <a:solidFill>
                <a:srgbClr val="4A7DB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Polygon for MVP/demo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Hyperledger Fabric for production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62225" y="2961275"/>
            <a:ext cx="42180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A7DBA"/>
                </a:solidFill>
              </a:rPr>
              <a:t>IDENTITY</a:t>
            </a:r>
            <a:endParaRPr b="1">
              <a:solidFill>
                <a:srgbClr val="4A7DB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W3C DID(did:ethr/did:key,did-jwt)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2225" y="3534475"/>
            <a:ext cx="5222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A7DBA"/>
                </a:solidFill>
              </a:rPr>
              <a:t>DECENTRALIZED STORAGE</a:t>
            </a:r>
            <a:endParaRPr b="1">
              <a:solidFill>
                <a:srgbClr val="4A7DB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IPFS via Pinata/Web3.Storage Metadata &amp; documents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62225" y="4061900"/>
            <a:ext cx="89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A7DBA"/>
                </a:solidFill>
              </a:rPr>
              <a:t>BACKEND</a:t>
            </a:r>
            <a:endParaRPr b="1">
              <a:solidFill>
                <a:srgbClr val="4A7DB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Node.js</a:t>
            </a:r>
            <a:r>
              <a:rPr lang="en-US">
                <a:solidFill>
                  <a:schemeClr val="dk1"/>
                </a:solidFill>
              </a:rPr>
              <a:t> + Express/NestJS,Off-chain event indexer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-173125" y="4699406"/>
            <a:ext cx="78573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4A7DBA"/>
                </a:solidFill>
              </a:rPr>
              <a:t>FRONTEND</a:t>
            </a:r>
            <a:endParaRPr sz="1300" b="1">
              <a:solidFill>
                <a:srgbClr val="4A7DB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React+</a:t>
            </a:r>
            <a:r>
              <a:rPr lang="en-US" sz="1300" u="sng">
                <a:solidFill>
                  <a:schemeClr val="hlink"/>
                </a:solidFill>
                <a:hlinkClick r:id="rId5"/>
              </a:rPr>
              <a:t>ethers.js/NestJS</a:t>
            </a:r>
            <a:r>
              <a:rPr lang="en-US" sz="1300">
                <a:solidFill>
                  <a:schemeClr val="dk1"/>
                </a:solidFill>
              </a:rPr>
              <a:t> Off-chain event indexer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2225" y="5036225"/>
            <a:ext cx="387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A7DBA"/>
                </a:solidFill>
              </a:rPr>
              <a:t>DEV/TEST</a:t>
            </a:r>
            <a:endParaRPr b="1">
              <a:solidFill>
                <a:srgbClr val="4A7DB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Hardhat Local Chain,testing &amp; deployment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p3" title="d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761544"/>
            <a:ext cx="182881" cy="18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 title="d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517531"/>
            <a:ext cx="182881" cy="18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 title="d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281994"/>
            <a:ext cx="182881" cy="18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 title="d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866144"/>
            <a:ext cx="182881" cy="18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 title="d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417569"/>
            <a:ext cx="182881" cy="18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title="d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813394"/>
            <a:ext cx="182881" cy="18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 title="d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386169"/>
            <a:ext cx="182881" cy="18288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4906325" y="644750"/>
            <a:ext cx="30132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swald"/>
              <a:buChar char="❖"/>
            </a:pPr>
            <a:r>
              <a:rPr lang="en-US" sz="16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Methodology &amp; Process</a:t>
            </a:r>
            <a:endParaRPr sz="16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4" name="Google Shape;144;p3" title="tottooo.jpeg"/>
          <p:cNvPicPr preferRelativeResize="0"/>
          <p:nvPr/>
        </p:nvPicPr>
        <p:blipFill rotWithShape="1">
          <a:blip r:embed="rId7">
            <a:alphaModFix/>
          </a:blip>
          <a:srcRect b="69369"/>
          <a:stretch/>
        </p:blipFill>
        <p:spPr>
          <a:xfrm>
            <a:off x="8044391" y="3787674"/>
            <a:ext cx="2624384" cy="6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" title="tottooo.jpeg"/>
          <p:cNvPicPr preferRelativeResize="0"/>
          <p:nvPr/>
        </p:nvPicPr>
        <p:blipFill rotWithShape="1">
          <a:blip r:embed="rId7">
            <a:alphaModFix/>
          </a:blip>
          <a:srcRect l="2590" t="32965" r="-2590" b="32969"/>
          <a:stretch/>
        </p:blipFill>
        <p:spPr>
          <a:xfrm>
            <a:off x="7518312" y="4272995"/>
            <a:ext cx="3500175" cy="583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 title="tottooo.jpeg"/>
          <p:cNvPicPr preferRelativeResize="0"/>
          <p:nvPr/>
        </p:nvPicPr>
        <p:blipFill rotWithShape="1">
          <a:blip r:embed="rId7">
            <a:alphaModFix/>
          </a:blip>
          <a:srcRect t="68411"/>
          <a:stretch/>
        </p:blipFill>
        <p:spPr>
          <a:xfrm>
            <a:off x="7156175" y="4893763"/>
            <a:ext cx="3673048" cy="85773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 txBox="1"/>
          <p:nvPr/>
        </p:nvSpPr>
        <p:spPr>
          <a:xfrm>
            <a:off x="8298950" y="3555188"/>
            <a:ext cx="19389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Char char="❖"/>
            </a:pPr>
            <a:r>
              <a:rPr lang="en-US" b="1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Prototype Plan</a:t>
            </a:r>
            <a:endParaRPr b="1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8" name="Google Shape;148;p3" title="Gemini_Generated_Image_mhaqc1mhaqc1mhaq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22800" y="93538"/>
            <a:ext cx="2212847" cy="112471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4498950" y="3634163"/>
            <a:ext cx="2473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Char char="❖"/>
            </a:pPr>
            <a:r>
              <a:rPr lang="en-US" b="1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System-Architecture</a:t>
            </a:r>
            <a:endParaRPr b="1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1F7FF-48F6-7A25-3C86-8B92F8D26B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9288" y="3944376"/>
            <a:ext cx="2844800" cy="27017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9EC1E9-14E9-F9DF-76EC-E9C10C181F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31716" y="1248896"/>
            <a:ext cx="1181202" cy="47705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60" name="Google Shape;16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4" descr="Your startup LOGO"/>
          <p:cNvSpPr/>
          <p:nvPr/>
        </p:nvSpPr>
        <p:spPr>
          <a:xfrm>
            <a:off x="372900" y="252250"/>
            <a:ext cx="17022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TrustMesh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4" title="Gemini_Generated_Image_mhaqc1mhaqc1mha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4150" y="221288"/>
            <a:ext cx="2212847" cy="112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6250" y="3491575"/>
            <a:ext cx="1192975" cy="1207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6250" y="4654475"/>
            <a:ext cx="1192975" cy="11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200" y="4626825"/>
            <a:ext cx="1192975" cy="1162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200" y="3538575"/>
            <a:ext cx="1192975" cy="1060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4"/>
          <p:cNvCxnSpPr>
            <a:stCxn id="159" idx="2"/>
          </p:cNvCxnSpPr>
          <p:nvPr/>
        </p:nvCxnSpPr>
        <p:spPr>
          <a:xfrm>
            <a:off x="6096000" y="1095375"/>
            <a:ext cx="12300" cy="285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" name="Google Shape;168;p4"/>
          <p:cNvSpPr txBox="1"/>
          <p:nvPr/>
        </p:nvSpPr>
        <p:spPr>
          <a:xfrm>
            <a:off x="1870175" y="957150"/>
            <a:ext cx="2844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Potential Challenges &amp; Risks </a:t>
            </a:r>
            <a:endParaRPr sz="15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6847750" y="957150"/>
            <a:ext cx="2844900" cy="1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Strategies to Overcome Challenges</a:t>
            </a:r>
            <a:endParaRPr sz="15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0" name="Google Shape;170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225" y="1257563"/>
            <a:ext cx="503250" cy="5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 txBox="1"/>
          <p:nvPr/>
        </p:nvSpPr>
        <p:spPr>
          <a:xfrm>
            <a:off x="1122500" y="1363175"/>
            <a:ext cx="42141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Lost private keys causing identity loss, with no central reset option available. </a:t>
            </a:r>
            <a:endParaRPr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2" name="Google Shape;172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5225" y="1675950"/>
            <a:ext cx="503250" cy="5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 txBox="1"/>
          <p:nvPr/>
        </p:nvSpPr>
        <p:spPr>
          <a:xfrm>
            <a:off x="1172975" y="1669150"/>
            <a:ext cx="4823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High gas costs on public chains, making frequent operations expensive and limiting scalability. 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4" name="Google Shape;174;p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6137" y="2161450"/>
            <a:ext cx="421425" cy="4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"/>
          <p:cNvSpPr txBox="1"/>
          <p:nvPr/>
        </p:nvSpPr>
        <p:spPr>
          <a:xfrm>
            <a:off x="1198475" y="2110925"/>
            <a:ext cx="4772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Immutable data conflicting with DPDP Act requirements, creating compliance issues with erasure rights. 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6" name="Google Shape;176;p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6123" y="2502175"/>
            <a:ext cx="503250" cy="5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 txBox="1"/>
          <p:nvPr/>
        </p:nvSpPr>
        <p:spPr>
          <a:xfrm>
            <a:off x="1198463" y="2519050"/>
            <a:ext cx="46191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Admin key compromise enabling fake asset minting or unauthorized role assignment in the system. 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8" name="Google Shape;178;p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95225" y="2998574"/>
            <a:ext cx="503250" cy="5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1198475" y="3074263"/>
            <a:ext cx="46191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Low crypto‑literacy creating friction in onboarding, as seed phrases and fees confuse mainstream users. 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0" name="Google Shape;180;p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07625" y="1298475"/>
            <a:ext cx="421425" cy="4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 txBox="1"/>
          <p:nvPr/>
        </p:nvSpPr>
        <p:spPr>
          <a:xfrm>
            <a:off x="6540725" y="1271013"/>
            <a:ext cx="5096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Guardian‑based recovery with institutional fallback ensures identity restoration even if keys are lost. 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2" name="Google Shape;182;p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207625" y="1716863"/>
            <a:ext cx="421425" cy="4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/>
          <p:nvPr/>
        </p:nvSpPr>
        <p:spPr>
          <a:xfrm>
            <a:off x="6595775" y="1769825"/>
            <a:ext cx="49866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L2 or permissioned deployment reduces transaction costs and scales more efficiently for enterprises. 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4" name="Google Shape;184;p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233125" y="2168613"/>
            <a:ext cx="421425" cy="4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/>
        </p:nvSpPr>
        <p:spPr>
          <a:xfrm>
            <a:off x="6625175" y="2182550"/>
            <a:ext cx="4927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Off‑chain encrypted PII with only hashes on‑chain enables lawful erasure while preserving integrity. 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6" name="Google Shape;186;p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258975" y="2580925"/>
            <a:ext cx="421425" cy="4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/>
        </p:nvSpPr>
        <p:spPr>
          <a:xfrm>
            <a:off x="6595775" y="2605938"/>
            <a:ext cx="514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Multisig</a:t>
            </a:r>
            <a:r>
              <a:rPr lang="en-US" sz="11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and hardware wallets strengthen admin security, preventing single‑key compromise risks. </a:t>
            </a:r>
            <a:endParaRPr sz="11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8" name="Google Shape;188;p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233125" y="3007375"/>
            <a:ext cx="421425" cy="4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"/>
          <p:cNvSpPr txBox="1"/>
          <p:nvPr/>
        </p:nvSpPr>
        <p:spPr>
          <a:xfrm>
            <a:off x="6706775" y="3007375"/>
            <a:ext cx="49278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Account abstraction (ERC‑4337) simplifies onboarding by hiding blockchain complexity and sponsoring gas. 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0" name="Google Shape;190;p4"/>
          <p:cNvSpPr txBox="1"/>
          <p:nvPr/>
        </p:nvSpPr>
        <p:spPr>
          <a:xfrm rot="-5400000">
            <a:off x="-365825" y="4679625"/>
            <a:ext cx="1828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Feasibility Analysis</a:t>
            </a:r>
            <a:endParaRPr sz="18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1" name="Google Shape;191;p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8800" y="6376775"/>
            <a:ext cx="6487650" cy="42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" title="ChatGPT Image Aug 27, 2026, 09_33_22 AM.png"/>
          <p:cNvPicPr preferRelativeResize="0"/>
          <p:nvPr/>
        </p:nvPicPr>
        <p:blipFill rotWithShape="1">
          <a:blip r:embed="rId19">
            <a:alphaModFix/>
          </a:blip>
          <a:srcRect t="1607" b="1607"/>
          <a:stretch/>
        </p:blipFill>
        <p:spPr>
          <a:xfrm>
            <a:off x="9475337" y="4599025"/>
            <a:ext cx="2692911" cy="173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572825" y="3383787"/>
            <a:ext cx="2434100" cy="99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" title="ChatGPT Image Aug 27, 2026, 09_41_43 AM.png"/>
          <p:cNvPicPr preferRelativeResize="0"/>
          <p:nvPr/>
        </p:nvPicPr>
        <p:blipFill rotWithShape="1">
          <a:blip r:embed="rId21">
            <a:alphaModFix/>
          </a:blip>
          <a:srcRect t="2670" b="-2670"/>
          <a:stretch/>
        </p:blipFill>
        <p:spPr>
          <a:xfrm>
            <a:off x="8063156" y="3435975"/>
            <a:ext cx="1353372" cy="285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4"/>
          <p:cNvPicPr preferRelativeResize="0"/>
          <p:nvPr/>
        </p:nvPicPr>
        <p:blipFill>
          <a:blip r:embed="rId22">
            <a:alphaModFix/>
          </a:blip>
          <a:srcRect/>
          <a:stretch/>
        </p:blipFill>
        <p:spPr>
          <a:xfrm>
            <a:off x="3376075" y="3870112"/>
            <a:ext cx="4743323" cy="1782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/>
          <p:nvPr/>
        </p:nvSpPr>
        <p:spPr>
          <a:xfrm>
            <a:off x="0" y="6354774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09600" y="2533653"/>
            <a:ext cx="938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5" name="Google Shape;205;p5" descr="Your startup LOGO"/>
          <p:cNvSpPr/>
          <p:nvPr/>
        </p:nvSpPr>
        <p:spPr>
          <a:xfrm>
            <a:off x="362725" y="252250"/>
            <a:ext cx="18660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TrustMesh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5" title="Gemini_Generated_Image_mhaqc1mhaqc1mha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4950" y="104013"/>
            <a:ext cx="2212847" cy="11247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5"/>
          <p:cNvCxnSpPr/>
          <p:nvPr/>
        </p:nvCxnSpPr>
        <p:spPr>
          <a:xfrm>
            <a:off x="5911575" y="989650"/>
            <a:ext cx="9300" cy="530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8" name="Google Shape;20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350" y="4106925"/>
            <a:ext cx="5110875" cy="7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/>
          <p:nvPr/>
        </p:nvSpPr>
        <p:spPr>
          <a:xfrm>
            <a:off x="138350" y="1095363"/>
            <a:ext cx="13692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Government 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38350" y="1767288"/>
            <a:ext cx="13692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Enterprises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38350" y="2601138"/>
            <a:ext cx="13692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Citizens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38350" y="3285275"/>
            <a:ext cx="13692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Auditors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1639075" y="1095375"/>
            <a:ext cx="432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Tamper‑proof identity &amp; record systems (land, certificates, licenses) → prevents forgery and unauthorized changes by keeping records immutable and verifiable. 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1667875" y="1832975"/>
            <a:ext cx="42678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Unified IAM + asset custody + compliance logging. → Eliminates siloed systems, reducing fraud and simplifying audits with one secure platform. </a:t>
            </a:r>
            <a:endParaRPr sz="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1641813" y="2533650"/>
            <a:ext cx="42678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Self‑sovereign identity, no lockouts or breaches → ensures individuals control their digital identity, protecting against misuse and central lockouts.</a:t>
            </a: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1667875" y="3233188"/>
            <a:ext cx="35463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Real‑time, verifiable audit trails for accountability → provides indisputable evidence instantly, cutting disputes and speeding compliance checks. 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7" name="Google Shape;217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7800" y="4474250"/>
            <a:ext cx="2442949" cy="16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/>
          <p:nvPr/>
        </p:nvSpPr>
        <p:spPr>
          <a:xfrm>
            <a:off x="6043900" y="1152025"/>
            <a:ext cx="13692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Economic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043850" y="1842825"/>
            <a:ext cx="13692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Scalability 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030875" y="2601138"/>
            <a:ext cx="13692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Interoperability 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017800" y="3285275"/>
            <a:ext cx="14214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Security 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7521425" y="3313550"/>
            <a:ext cx="43254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Eliminates the single point of failure in centralized IAM → ensures identities and assets remain safe even if one node is compromised. 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7492525" y="1128325"/>
            <a:ext cx="42678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Cuts fraud losses &amp; manual verification costs → reduces operational overhead while improving trust in digital transactions. 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7521225" y="1832975"/>
            <a:ext cx="4686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One policy engine serving multiple domains (education, healthcare, supply chain, land records) → maximizes impact with minimal redeployment effort. 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7495375" y="2618863"/>
            <a:ext cx="42678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Portable W3C DID identities across platforms → allows seamless use of one identity across multiple apps and ecosystems. 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6" name="Google Shape;226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350" y="5127350"/>
            <a:ext cx="4071500" cy="119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 title="ChatGPT Image Aug 27, 2026, 02_13_31 AM.png"/>
          <p:cNvPicPr preferRelativeResize="0"/>
          <p:nvPr/>
        </p:nvPicPr>
        <p:blipFill rotWithShape="1">
          <a:blip r:embed="rId7">
            <a:alphaModFix/>
          </a:blip>
          <a:srcRect l="903" r="903"/>
          <a:stretch/>
        </p:blipFill>
        <p:spPr>
          <a:xfrm>
            <a:off x="8460750" y="3871600"/>
            <a:ext cx="3657600" cy="248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7" name="Google Shape;237;p6" descr="Your startup LOGO"/>
          <p:cNvSpPr/>
          <p:nvPr/>
        </p:nvSpPr>
        <p:spPr>
          <a:xfrm>
            <a:off x="446250" y="214900"/>
            <a:ext cx="17613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TrustMesh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6" title="Gemini_Generated_Image_mhaqc1mhaqc1mha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2250" y="55875"/>
            <a:ext cx="2212851" cy="103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3502850" y="2169775"/>
            <a:ext cx="915000" cy="675000"/>
          </a:xfrm>
          <a:prstGeom prst="teardrop">
            <a:avLst>
              <a:gd name="adj" fmla="val 10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0" name="Google Shape;240;p6"/>
          <p:cNvSpPr/>
          <p:nvPr/>
        </p:nvSpPr>
        <p:spPr>
          <a:xfrm rot="5400000">
            <a:off x="3518150" y="1147575"/>
            <a:ext cx="884400" cy="875100"/>
          </a:xfrm>
          <a:prstGeom prst="teardrop">
            <a:avLst>
              <a:gd name="adj" fmla="val 11656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1" name="Google Shape;241;p6"/>
          <p:cNvSpPr/>
          <p:nvPr/>
        </p:nvSpPr>
        <p:spPr>
          <a:xfrm rot="10800000">
            <a:off x="4477750" y="1220896"/>
            <a:ext cx="915000" cy="909000"/>
          </a:xfrm>
          <a:prstGeom prst="teardrop">
            <a:avLst>
              <a:gd name="adj" fmla="val 10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2" name="Google Shape;242;p6"/>
          <p:cNvSpPr/>
          <p:nvPr/>
        </p:nvSpPr>
        <p:spPr>
          <a:xfrm rot="-5400000">
            <a:off x="4382200" y="2265318"/>
            <a:ext cx="864900" cy="673800"/>
          </a:xfrm>
          <a:prstGeom prst="teardrop">
            <a:avLst>
              <a:gd name="adj" fmla="val 10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3562388" y="1237700"/>
            <a:ext cx="79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1.</a:t>
            </a:r>
            <a:endParaRPr sz="37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4691825" y="1455900"/>
            <a:ext cx="86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2.</a:t>
            </a:r>
            <a:endParaRPr sz="37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3627650" y="2169627"/>
            <a:ext cx="6654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3.</a:t>
            </a:r>
            <a:endParaRPr sz="37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4507350" y="2158825"/>
            <a:ext cx="795900" cy="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4.</a:t>
            </a:r>
            <a:endParaRPr sz="37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293850" y="928063"/>
            <a:ext cx="3379500" cy="11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W3C Decentralized Identifiers v1.1 –Candidate Rec, 2026 </a:t>
            </a: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–Defines global, self‑sovereign digital identities without central control. 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5392750" y="1077050"/>
            <a:ext cx="37446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5"/>
              </a:rPr>
              <a:t>OpenZeppelin Contracts (AccessControl, ERC-721) </a:t>
            </a: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–Audited smart‑contract library for RBAC and NFT standards. 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446250" y="2394325"/>
            <a:ext cx="2844900" cy="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6"/>
              </a:rPr>
              <a:t>Hyperledger Fabric Docs </a:t>
            </a: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–Enterprise‑grade permissioned blockchain for secure, modular networks. 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5211450" y="2052775"/>
            <a:ext cx="3744600" cy="9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7"/>
              </a:rPr>
              <a:t>India’s DPDP Act, 2023</a:t>
            </a:r>
            <a:r>
              <a:rPr lang="en-US" sz="18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–Privacy law enforcing consent, user rights, and strict data compliance.  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1" name="Google Shape;251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19150" y="2784650"/>
            <a:ext cx="2652100" cy="128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7300" y="3614800"/>
            <a:ext cx="3873850" cy="23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13125" y="4425525"/>
            <a:ext cx="3578876" cy="19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29200" y="3742550"/>
            <a:ext cx="4395876" cy="239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226850" y="1139375"/>
            <a:ext cx="2652100" cy="1601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868</Words>
  <Application>Microsoft Office PowerPoint</Application>
  <PresentationFormat>Widescreen</PresentationFormat>
  <Paragraphs>124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Garamond</vt:lpstr>
      <vt:lpstr>Arial</vt:lpstr>
      <vt:lpstr>Oswald</vt:lpstr>
      <vt:lpstr>Times New Roman</vt:lpstr>
      <vt:lpstr>Courier New</vt:lpstr>
      <vt:lpstr>Office Theme</vt:lpstr>
      <vt:lpstr>SMART INDIA HACKATHON 2026</vt:lpstr>
      <vt:lpstr>TrustMesh - A Blockchain-Based Trust Layer for Identity, Access Control &amp; Digital Assets 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Krish  Choudhary</cp:lastModifiedBy>
  <cp:revision>3</cp:revision>
  <dcterms:created xsi:type="dcterms:W3CDTF">2013-12-12T18:46:50Z</dcterms:created>
  <dcterms:modified xsi:type="dcterms:W3CDTF">2026-09-11T23:52:31Z</dcterms:modified>
</cp:coreProperties>
</file>